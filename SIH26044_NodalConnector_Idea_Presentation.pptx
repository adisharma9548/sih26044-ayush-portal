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1A365D"/>
                </a:solidFill>
                <a:latin typeface="Georgia"/>
              </a:defRPr>
            </a:pPr>
            <a:r>
              <a:t>SMART INDIA HACKATHON 2026</a:t>
            </a:r>
          </a:p>
          <a:p>
            <a:pPr algn="ctr">
              <a:defRPr b="1" sz="2200">
                <a:solidFill>
                  <a:srgbClr val="D97706"/>
                </a:solidFill>
                <a:latin typeface="Arial"/>
              </a:defRPr>
            </a:pPr>
            <a:r>
              <a:t>NODAL CONNECTOR (WORKING MVP)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758952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 rIns="365760"/>
          <a:lstStyle/>
          <a:p>
            <a:pPr algn="ctr">
              <a:spcAft>
                <a:spcPts val="1000"/>
              </a:spcAft>
            </a:pPr>
            <a:r>
              <a:rPr b="1" sz="1350">
                <a:solidFill>
                  <a:srgbClr val="1A365D"/>
                </a:solidFill>
                <a:latin typeface="Calibri"/>
              </a:rPr>
              <a:t>❑ Problem Statement ID : </a:t>
            </a:r>
            <a:r>
              <a:rPr b="1" sz="1350">
                <a:solidFill>
                  <a:srgbClr val="1E293B"/>
                </a:solidFill>
                <a:latin typeface="Calibri"/>
              </a:rPr>
              <a:t>SIH26044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1A365D"/>
                </a:solidFill>
                <a:latin typeface="Calibri"/>
              </a:rPr>
              <a:t>❑ Problem Statement Title : </a:t>
            </a:r>
            <a:r>
              <a:rPr b="0" sz="1350">
                <a:solidFill>
                  <a:srgbClr val="1E293B"/>
                </a:solidFill>
                <a:latin typeface="Calibri"/>
              </a:rPr>
              <a:t>Portal for Academia - Industry collaboration for Skill Mapping, Internships and Placement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1A365D"/>
                </a:solidFill>
                <a:latin typeface="Calibri"/>
              </a:rPr>
              <a:t>❑ Theme : </a:t>
            </a:r>
            <a:r>
              <a:rPr b="1" sz="1350">
                <a:solidFill>
                  <a:srgbClr val="1E293B"/>
                </a:solidFill>
                <a:latin typeface="Calibri"/>
              </a:rPr>
              <a:t>Smart Automation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1A365D"/>
                </a:solidFill>
                <a:latin typeface="Calibri"/>
              </a:rPr>
              <a:t>❑ PS Category : </a:t>
            </a:r>
            <a:r>
              <a:rPr b="1" sz="1350">
                <a:solidFill>
                  <a:srgbClr val="1E293B"/>
                </a:solidFill>
                <a:latin typeface="Calibri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1A365D"/>
                </a:solidFill>
                <a:latin typeface="Calibri"/>
              </a:rPr>
              <a:t>❑ Project Status : </a:t>
            </a:r>
            <a:r>
              <a:rPr b="1" sz="1350">
                <a:solidFill>
                  <a:srgbClr val="1E293B"/>
                </a:solidFill>
                <a:latin typeface="Calibri"/>
              </a:rPr>
              <a:t>Functional MVP Prototype (Full-Stack Built &amp; Deployed)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1A365D"/>
                </a:solidFill>
                <a:latin typeface="Calibri"/>
              </a:rPr>
              <a:t>❑ Team ID : </a:t>
            </a:r>
            <a:r>
              <a:rPr b="0" sz="1350">
                <a:solidFill>
                  <a:srgbClr val="1E293B"/>
                </a:solidFill>
                <a:latin typeface="Calibri"/>
              </a:rPr>
              <a:t>[Insert Team ID]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1A365D"/>
                </a:solidFill>
                <a:latin typeface="Calibri"/>
              </a:rPr>
              <a:t>❑ Team Name (Registered on portal) : </a:t>
            </a:r>
            <a:r>
              <a:rPr b="0" sz="1350">
                <a:solidFill>
                  <a:srgbClr val="1E293B"/>
                </a:solidFill>
                <a:latin typeface="Calibri"/>
              </a:rPr>
              <a:t>[Insert Registered Team Name]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95360" y="1691640"/>
            <a:ext cx="2926080" cy="470916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00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300">
                <a:solidFill>
                  <a:srgbClr val="1A365D"/>
                </a:solidFill>
              </a:defRPr>
            </a:pPr>
            <a:r>
              <a:t>WORKING MVP HIGHLIGHTS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🌐 Live Web Portal:</a:t>
            </a:r>
            <a:br/>
            <a:r>
              <a:t>Deployed frontend &amp; backend API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🎯 4 Functional Roles:</a:t>
            </a:r>
            <a:br/>
            <a:r>
              <a:t>Student, Industry, Faculty, Admin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🧠 AI Diagnostic Tests:</a:t>
            </a:r>
            <a:br/>
            <a:r>
              <a:t>Dynamic skill testing (Groq LLaMA 3.3)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📹 Live WebRTC Rooms:</a:t>
            </a:r>
            <a:br/>
            <a:r>
              <a:t>Zero-install video &amp; collaborative whiteboard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📊 Dynamic Skill Match:</a:t>
            </a:r>
            <a:br/>
            <a:r>
              <a:t>Transparent score based on real 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182880"/>
            <a:ext cx="17373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A365D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b="1" sz="800">
                <a:solidFill>
                  <a:srgbClr val="D97706"/>
                </a:solidFill>
                <a:latin typeface="Arial"/>
              </a:defRPr>
            </a:pPr>
            <a:r>
              <a:t>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0BA"/>
          </a:solidFill>
          <a:ln>
            <a:solidFill>
              <a:srgbClr val="00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644652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182880"/>
            <a:ext cx="17373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A365D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b="1" sz="800">
                <a:solidFill>
                  <a:srgbClr val="D97706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A365D"/>
                </a:solidFill>
                <a:latin typeface="Georgia"/>
              </a:defRPr>
            </a:pPr>
            <a:r>
              <a:t>NODAL CONNECTOR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365D"/>
                </a:solidFill>
                <a:latin typeface="Arial"/>
              </a:defRPr>
            </a:pPr>
            <a:r>
              <a:t>❖ Proposed 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2918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435608"/>
            <a:ext cx="3072384" cy="6858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  <a:latin typeface="Arial"/>
              </a:defRPr>
            </a:pPr>
            <a:r>
              <a:t>Pillar 01: Smart Skill Diagnostic &amp; Gap Remediation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94560"/>
            <a:ext cx="307238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Objective AI Diagnostic Assessment (Groq LLaMA 3.3) assessing real student competencies with authentic 0-100% scoring.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UGC Section 22 Degree Normalizer with 500ms debounce matching engineering, bio-pharma, and healthcare degrees.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Automated Skill Gap Matrix linking identified weaknesses directly to curated roadmap.sh learning pathways.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Real Cohort Percentile Benchmarks calculated dynamically from peer test attempts without artificial score boosts.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25880"/>
            <a:ext cx="32918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61688" y="1435608"/>
            <a:ext cx="3072384" cy="6858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  <a:latin typeface="Arial"/>
              </a:defRPr>
            </a:pPr>
            <a:r>
              <a:t>Pillar 02: Unified Opportunities &amp; Direct In-App Hiring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194560"/>
            <a:ext cx="307238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Centralized Marketplace for verified experiential internships and entry-level jobs with stipends.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Transparent Compatibility Score based on verified skills matching specific posting requirements.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Real-Time Application Lifecycle: Applied → Under Review → Interview Scheduled → Offered / Rejected.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Collaborative Industry Learning Programs: Companies sponsor structured modules for talent upskilling.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325880"/>
            <a:ext cx="384048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b="1" sz="1050">
                <a:solidFill>
                  <a:srgbClr val="1A365D"/>
                </a:solidFill>
                <a:latin typeface="Arial"/>
              </a:defRPr>
            </a:pPr>
            <a:r>
              <a:t>📷 [REAL SCREENSHOT: STUDENT DASHBOARD &amp; AI ASSESSMENT]</a:t>
            </a:r>
          </a:p>
          <a:p>
            <a:pPr algn="ctr">
              <a:spcAft>
                <a:spcPts val="400"/>
              </a:spcAft>
              <a:defRPr b="1" sz="950">
                <a:solidFill>
                  <a:srgbClr val="D97706"/>
                </a:solidFill>
                <a:latin typeface="Consolas"/>
              </a:defRPr>
            </a:pPr>
            <a:r>
              <a:t>Route URL: /student/dashboard &amp; /student/assessment</a:t>
            </a:r>
          </a:p>
          <a:p>
            <a:pPr algn="ctr">
              <a:defRPr sz="900">
                <a:solidFill>
                  <a:srgbClr val="1E293B"/>
                </a:solidFill>
                <a:latin typeface="Calibri"/>
              </a:defRPr>
            </a:pPr>
            <a:r>
              <a:t>Take a screenshot of the Student Dashboard showing the Skill Radar Chart, Active Applications, or the Diagnostic Test in action!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0BA"/>
          </a:solidFill>
          <a:ln>
            <a:solidFill>
              <a:srgbClr val="00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644652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182880"/>
            <a:ext cx="17373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A365D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b="1" sz="800">
                <a:solidFill>
                  <a:srgbClr val="D97706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A365D"/>
                </a:solidFill>
                <a:latin typeface="Georgia"/>
              </a:defRPr>
            </a:pPr>
            <a:r>
              <a:t>TECHNICAL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365D"/>
                </a:solidFill>
                <a:latin typeface="Arial"/>
              </a:defRPr>
            </a:pPr>
            <a:r>
              <a:t>❖ Technology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6217920" cy="14447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b="1" sz="1150">
                <a:solidFill>
                  <a:srgbClr val="1A365D"/>
                </a:solidFill>
                <a:latin typeface="Arial"/>
              </a:defRPr>
            </a:pPr>
            <a:r>
              <a:t>Frontend (React 18 + Vite + Tailwind CSS)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Single Page App (SPA) with Protected Routes for 4 personas.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Zustand state store for user sessions &amp; real-time alerts.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Dynamic SVG skill radar charts &amp; debounced UGC degree selector.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98648"/>
            <a:ext cx="6217920" cy="14447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b="1" sz="1150">
                <a:solidFill>
                  <a:srgbClr val="1A365D"/>
                </a:solidFill>
                <a:latin typeface="Arial"/>
              </a:defRPr>
            </a:pPr>
            <a:r>
              <a:t>Backend &amp; Real-Time (Node.js + Express + Socket.IO)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Modular RESTful API with JWT authentication &amp; role authorization.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Socket.IO signaling for browser-to-browser WebRTC video/audio calls.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Real-time synchronized whiteboard canvas for technical discussions.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71416"/>
            <a:ext cx="6217920" cy="14447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b="1" sz="1150">
                <a:solidFill>
                  <a:srgbClr val="1A365D"/>
                </a:solidFill>
                <a:latin typeface="Arial"/>
              </a:defRPr>
            </a:pPr>
            <a:r>
              <a:t>AI &amp; Database (Groq LLaMA 3.3 + MongoDB Atlas)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Groq LPU high-speed inference for instant diagnostic question generation.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17 Mongoose schemas with compound indexes for fast applicant search.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roadmap.sh curriculum integration for automated student study roadmaps.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325880"/>
            <a:ext cx="434340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b="1" sz="1050">
                <a:solidFill>
                  <a:srgbClr val="1A365D"/>
                </a:solidFill>
                <a:latin typeface="Arial"/>
              </a:defRPr>
            </a:pPr>
            <a:r>
              <a:t>📷 [REAL SCREENSHOT: LIVE WEBRTC INTERVIEW &amp; WHITEBOARD]</a:t>
            </a:r>
          </a:p>
          <a:p>
            <a:pPr algn="ctr">
              <a:spcAft>
                <a:spcPts val="400"/>
              </a:spcAft>
              <a:defRPr b="1" sz="950">
                <a:solidFill>
                  <a:srgbClr val="D97706"/>
                </a:solidFill>
                <a:latin typeface="Consolas"/>
              </a:defRPr>
            </a:pPr>
            <a:r>
              <a:t>Route URL: /meetings (or direct interview room)</a:t>
            </a:r>
          </a:p>
          <a:p>
            <a:pPr algn="ctr">
              <a:defRPr sz="900">
                <a:solidFill>
                  <a:srgbClr val="1E293B"/>
                </a:solidFill>
                <a:latin typeface="Calibri"/>
              </a:defRPr>
            </a:pPr>
            <a:r>
              <a:t>Take a screenshot of the Live Meeting page showing the WebRTC video tiles, controls, and the interactive drawing canvas board!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0BA"/>
          </a:solidFill>
          <a:ln>
            <a:solidFill>
              <a:srgbClr val="00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644652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182880"/>
            <a:ext cx="17373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A365D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b="1" sz="800">
                <a:solidFill>
                  <a:srgbClr val="D97706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A365D"/>
                </a:solidFill>
                <a:latin typeface="Georgia"/>
              </a:defRPr>
            </a:pPr>
            <a:r>
              <a:t>FEASIBILITY AND VIABILITY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51560"/>
            <a:ext cx="356616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/>
          <a:lstStyle/>
          <a:p>
            <a:pPr algn="ctr">
              <a:defRPr b="1" sz="1200">
                <a:solidFill>
                  <a:srgbClr val="1A365D"/>
                </a:solidFill>
              </a:defRPr>
            </a:pPr>
            <a:r>
              <a:t>Feasibility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Technical: Open web standards (React, Node, WebRTC) needing 0 external downloads.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Operational: Lightweight UI runs on mobile devices and basic college Wi-Fi.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Financial: Serverless cloud hosting keeps running costs minimal for the MVP.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356616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/>
          <a:lstStyle/>
          <a:p>
            <a:pPr algn="ctr">
              <a:defRPr b="1" sz="1200">
                <a:solidFill>
                  <a:srgbClr val="1A365D"/>
                </a:solidFill>
              </a:defRPr>
            </a:pPr>
            <a:r>
              <a:t>Viability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High College Adoption: Helps placement cells connect students to real recruiters.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Recruiter Incentive: Pre-assessed candidates with transparent skill matches.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MVP Scalability: Clean modular code easily transitions into full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3566160" cy="1783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/>
          <a:lstStyle/>
          <a:p>
            <a:pPr algn="ctr">
              <a:defRPr b="1" sz="1200">
                <a:solidFill>
                  <a:srgbClr val="1A365D"/>
                </a:solidFill>
              </a:defRPr>
            </a:pPr>
            <a:r>
              <a:t>Challenges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Cold Start: Students having unverified or incomplete skill profiles.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Curricular Lag: University syllabi updating slower than industry tech.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Campus Firewalls: Restrictive college NAT networks blocking P2P video.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051560"/>
            <a:ext cx="356616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/>
          <a:lstStyle/>
          <a:p>
            <a:pPr algn="ctr">
              <a:defRPr b="1" sz="1200">
                <a:solidFill>
                  <a:srgbClr val="1A365D"/>
                </a:solidFill>
              </a:defRPr>
            </a:pPr>
            <a:r>
              <a:t>Use Cases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Student Career Discovery: Student identifies a skill gap in bio-pharma / coding, follows the roadmap, and applies for an internship.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Recruiter Sourcing: Employer filters candidates by degree &amp; verified skill compatibility, scheduling an instant video interview.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Faculty Collaboration: Professor browses industry research immersion programs and schedules student workshops.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611880"/>
            <a:ext cx="3566160" cy="2514600"/>
          </a:xfrm>
          <a:prstGeom prst="roundRect">
            <a:avLst/>
          </a:prstGeom>
          <a:solidFill>
            <a:srgbClr val="EEF6FF"/>
          </a:solidFill>
          <a:ln>
            <a:solidFill>
              <a:srgbClr val="00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/>
          <a:lstStyle/>
          <a:p>
            <a:pPr algn="ctr">
              <a:defRPr b="1" sz="1200">
                <a:solidFill>
                  <a:srgbClr val="1A365D"/>
                </a:solidFill>
              </a:defRPr>
            </a:pPr>
            <a:r>
              <a:t>Solutions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AI Diagnostic Testing: Fast 10-question evaluation immediately verifies core skills.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Industry Learning Tracks: Companies post custom learning modules to bridge syllabus lags.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STUN/TURN Fallback: Integrated WebRTC fallback ensures video calls connect even on campus Wi-Fi.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051560"/>
            <a:ext cx="3246120" cy="5074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b="1" sz="1050">
                <a:solidFill>
                  <a:srgbClr val="1A365D"/>
                </a:solidFill>
                <a:latin typeface="Arial"/>
              </a:defRPr>
            </a:pPr>
            <a:r>
              <a:t>📷 [REAL SCREENSHOT: INTERNSHIP &amp; JOB MARKETPLACE]</a:t>
            </a:r>
          </a:p>
          <a:p>
            <a:pPr algn="ctr">
              <a:spcAft>
                <a:spcPts val="400"/>
              </a:spcAft>
              <a:defRPr b="1" sz="950">
                <a:solidFill>
                  <a:srgbClr val="D97706"/>
                </a:solidFill>
                <a:latin typeface="Consolas"/>
              </a:defRPr>
            </a:pPr>
            <a:r>
              <a:t>Route URL: /student/internships or /industry/post</a:t>
            </a:r>
          </a:p>
          <a:p>
            <a:pPr algn="ctr">
              <a:defRPr sz="900">
                <a:solidFill>
                  <a:srgbClr val="1E293B"/>
                </a:solidFill>
                <a:latin typeface="Calibri"/>
              </a:defRPr>
            </a:pPr>
            <a:r>
              <a:t>Take a screenshot of the Internships portal showing opportunity cards, stipend badges, and the 'Skill Match' indicator!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0BA"/>
          </a:solidFill>
          <a:ln>
            <a:solidFill>
              <a:srgbClr val="00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644652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182880"/>
            <a:ext cx="17373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A365D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b="1" sz="800">
                <a:solidFill>
                  <a:srgbClr val="D97706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A365D"/>
                </a:solidFill>
                <a:latin typeface="Georgia"/>
              </a:defRPr>
            </a:pPr>
            <a:r>
              <a:t>IMPACT AND BENEFITS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51560"/>
            <a:ext cx="3566160" cy="5074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64592"/>
          <a:lstStyle/>
          <a:p>
            <a:pPr algn="ctr">
              <a:spcAft>
                <a:spcPts val="800"/>
              </a:spcAft>
              <a:defRPr b="1" sz="1400">
                <a:solidFill>
                  <a:srgbClr val="1A365D"/>
                </a:solidFill>
                <a:latin typeface="Arial"/>
              </a:defRPr>
            </a:pPr>
            <a:r>
              <a:t>❖ Benefits Of The Solution</a:t>
            </a:r>
          </a:p>
          <a:p>
            <a:pPr>
              <a:spcAft>
                <a:spcPts val="200"/>
              </a:spcAft>
              <a:defRPr b="1" sz="1050">
                <a:solidFill>
                  <a:srgbClr val="D97706"/>
                </a:solidFill>
              </a:defRPr>
            </a:pPr>
            <a:r>
              <a:t>For Students &amp; Jobseekers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Authentic skill feedback with personalized learning roadmaps.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Direct access to verified internship &amp; job openings with stipends.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Shareable digital portfolio of verified skills.</a:t>
            </a:r>
          </a:p>
          <a:p>
            <a:pPr>
              <a:spcAft>
                <a:spcPts val="200"/>
              </a:spcAft>
              <a:defRPr b="1" sz="1050">
                <a:solidFill>
                  <a:srgbClr val="D97706"/>
                </a:solidFill>
              </a:defRPr>
            </a:pPr>
            <a:r>
              <a:t>For Industry &amp; Recruiters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Saves hours of screening through transparent skill-match scores.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Schedule and conduct technical interviews directly in the portal.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Sponsor tailored learning programs to groom talent.</a:t>
            </a:r>
          </a:p>
          <a:p>
            <a:pPr>
              <a:spcAft>
                <a:spcPts val="200"/>
              </a:spcAft>
              <a:defRPr b="1" sz="1050">
                <a:solidFill>
                  <a:srgbClr val="D97706"/>
                </a:solidFill>
              </a:defRPr>
            </a:pPr>
            <a:r>
              <a:t>For Academic Faculty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Real-time insight into in-demand industry competencies.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Direct channel to connect students with corporate mentors.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051560"/>
            <a:ext cx="3566160" cy="5074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64592"/>
          <a:lstStyle/>
          <a:p>
            <a:pPr algn="ctr">
              <a:spcAft>
                <a:spcPts val="800"/>
              </a:spcAft>
              <a:defRPr b="1" sz="1400">
                <a:solidFill>
                  <a:srgbClr val="1A365D"/>
                </a:solidFill>
                <a:latin typeface="Arial"/>
              </a:defRPr>
            </a:pPr>
            <a:r>
              <a:t>❖ Potential Impact On The Target Audience</a:t>
            </a:r>
          </a:p>
          <a:p>
            <a:pPr>
              <a:spcAft>
                <a:spcPts val="100"/>
              </a:spcAft>
              <a:defRPr b="1" sz="1050">
                <a:solidFill>
                  <a:srgbClr val="1A365D"/>
                </a:solidFill>
              </a:defRPr>
            </a:pPr>
            <a:r>
              <a:t>Bridging the Employability Gap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</a:defRPr>
            </a:pPr>
            <a:r>
              <a:t>Helps students uncover what they don't know early in college, giving them actionable steps to become job-ready.</a:t>
            </a:r>
          </a:p>
          <a:p>
            <a:pPr>
              <a:spcAft>
                <a:spcPts val="100"/>
              </a:spcAft>
              <a:defRPr b="1" sz="1050">
                <a:solidFill>
                  <a:srgbClr val="1A365D"/>
                </a:solidFill>
              </a:defRPr>
            </a:pPr>
            <a:r>
              <a:t>Democratizing Tier-2/3 College Access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</a:defRPr>
            </a:pPr>
            <a:r>
              <a:t>Gives students from smaller colleges direct visibility to companies without relying solely on campus placement drives.</a:t>
            </a:r>
          </a:p>
          <a:p>
            <a:pPr>
              <a:spcAft>
                <a:spcPts val="100"/>
              </a:spcAft>
              <a:defRPr b="1" sz="1050">
                <a:solidFill>
                  <a:srgbClr val="1A365D"/>
                </a:solidFill>
              </a:defRPr>
            </a:pPr>
            <a:r>
              <a:t>Multi-Disciplinary Synergy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</a:defRPr>
            </a:pPr>
            <a:r>
              <a:t>Connects traditional sciences, Ayush bio-pharma, and computer engineering under one unified skill taxonomy.</a:t>
            </a:r>
          </a:p>
          <a:p>
            <a:pPr>
              <a:spcAft>
                <a:spcPts val="100"/>
              </a:spcAft>
              <a:defRPr b="1" sz="1050">
                <a:solidFill>
                  <a:srgbClr val="1A365D"/>
                </a:solidFill>
              </a:defRPr>
            </a:pPr>
            <a:r>
              <a:t>Transparent Merit-Based Hiring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</a:defRPr>
            </a:pPr>
            <a:r>
              <a:t>Replaces inflated resumes with verified diagnostic results and real project showcases.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051560"/>
            <a:ext cx="3246120" cy="5074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b="1" sz="1050">
                <a:solidFill>
                  <a:srgbClr val="1A365D"/>
                </a:solidFill>
                <a:latin typeface="Arial"/>
              </a:defRPr>
            </a:pPr>
            <a:r>
              <a:t>📷 [REAL SCREENSHOT: RECRUITER APPLICANT MANAGEMENT]</a:t>
            </a:r>
          </a:p>
          <a:p>
            <a:pPr algn="ctr">
              <a:spcAft>
                <a:spcPts val="400"/>
              </a:spcAft>
              <a:defRPr b="1" sz="950">
                <a:solidFill>
                  <a:srgbClr val="D97706"/>
                </a:solidFill>
                <a:latin typeface="Consolas"/>
              </a:defRPr>
            </a:pPr>
            <a:r>
              <a:t>Route URL: /industry/applicants or /industry/candidates</a:t>
            </a:r>
          </a:p>
          <a:p>
            <a:pPr algn="ctr">
              <a:defRPr sz="900">
                <a:solidFill>
                  <a:srgbClr val="1E293B"/>
                </a:solidFill>
                <a:latin typeface="Calibri"/>
              </a:defRPr>
            </a:pPr>
            <a:r>
              <a:t>Take a screenshot of the Recruiter page showing candidate applications, compatibility score pills, and interview actions!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0BA"/>
          </a:solidFill>
          <a:ln>
            <a:solidFill>
              <a:srgbClr val="00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644652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182880"/>
            <a:ext cx="17373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A365D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b="1" sz="800">
                <a:solidFill>
                  <a:srgbClr val="D97706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A365D"/>
                </a:solidFill>
                <a:latin typeface="Georgia"/>
              </a:defRPr>
            </a:pPr>
            <a:r>
              <a:t>RESEARCH AND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365D"/>
                </a:solidFill>
                <a:latin typeface="Arial"/>
              </a:defRPr>
            </a:pPr>
            <a:r>
              <a:t>• Details / Links of the reference and research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722376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b="1" sz="1000">
                <a:solidFill>
                  <a:srgbClr val="1A365D"/>
                </a:solidFill>
              </a:defRPr>
            </a:pPr>
            <a:r>
              <a:t>1. National Education Policy (NEP 2020) — Ministry of Education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Reference: NEP 2020 Chapter 11 on vocational training, industry linkage, and experiential learning credits.</a:t>
            </a:r>
          </a:p>
          <a:p>
            <a:pPr>
              <a:spcAft>
                <a:spcPts val="400"/>
              </a:spcAft>
              <a:defRPr sz="800" i="1">
                <a:solidFill>
                  <a:srgbClr val="0070BA"/>
                </a:solidFill>
              </a:defRPr>
            </a:pPr>
            <a:r>
              <a:t>https://www.education.gov.in/sites/upload_files/mhrd/files/NEP_Final_English_0.pdf</a:t>
            </a:r>
          </a:p>
          <a:p>
            <a:pPr>
              <a:defRPr b="1" sz="1000">
                <a:solidFill>
                  <a:srgbClr val="1A365D"/>
                </a:solidFill>
              </a:defRPr>
            </a:pPr>
            <a:r>
              <a:t>2. University Grants Commission (UGC) Degree Specification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Reference: UGC Act 1956 Section 22 official nomenclature standardization framework, utilized in our degree selector.</a:t>
            </a:r>
          </a:p>
          <a:p>
            <a:pPr>
              <a:spcAft>
                <a:spcPts val="400"/>
              </a:spcAft>
              <a:defRPr sz="800" i="1">
                <a:solidFill>
                  <a:srgbClr val="0070BA"/>
                </a:solidFill>
              </a:defRPr>
            </a:pPr>
            <a:r>
              <a:t>https://www.ugc.gov.in/pdfnews/spec_degrees.pdf</a:t>
            </a:r>
          </a:p>
          <a:p>
            <a:pPr>
              <a:defRPr b="1" sz="1000">
                <a:solidFill>
                  <a:srgbClr val="1A365D"/>
                </a:solidFill>
              </a:defRPr>
            </a:pPr>
            <a:r>
              <a:t>3. AICTE National Internship Policy &amp; Guidelines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Reference: Framework for mandatory technical internships and industry-academia credit integration.</a:t>
            </a:r>
          </a:p>
          <a:p>
            <a:pPr>
              <a:spcAft>
                <a:spcPts val="400"/>
              </a:spcAft>
              <a:defRPr sz="800" i="1">
                <a:solidFill>
                  <a:srgbClr val="0070BA"/>
                </a:solidFill>
              </a:defRPr>
            </a:pPr>
            <a:r>
              <a:t>https://internship.aicte-india.org/</a:t>
            </a:r>
          </a:p>
          <a:p>
            <a:pPr>
              <a:defRPr b="1" sz="1000">
                <a:solidFill>
                  <a:srgbClr val="1A365D"/>
                </a:solidFill>
              </a:defRPr>
            </a:pPr>
            <a:r>
              <a:t>4. roadmap.sh Open-Source Curriculum Framework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Reference: Community developer skill roadmaps used to curate learning paths for student remediation.</a:t>
            </a:r>
          </a:p>
          <a:p>
            <a:pPr>
              <a:spcAft>
                <a:spcPts val="400"/>
              </a:spcAft>
              <a:defRPr sz="800" i="1">
                <a:solidFill>
                  <a:srgbClr val="0070BA"/>
                </a:solidFill>
              </a:defRPr>
            </a:pPr>
            <a:r>
              <a:t>https://github.com/kamranahmedse/developer-roadmap</a:t>
            </a:r>
          </a:p>
          <a:p>
            <a:pPr>
              <a:defRPr b="1" sz="1000">
                <a:solidFill>
                  <a:srgbClr val="1A365D"/>
                </a:solidFill>
              </a:defRPr>
            </a:pPr>
            <a:r>
              <a:t>5. Working MVP Repository &amp; Live Deployments (SIH26044)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Live Client: https://sih26044-ayush-portal.vercel.app</a:t>
            </a:r>
            <a:br/>
            <a:r>
              <a:t>• Live Backend API: https://sih26044-ayush-portal-production.up.railway.app</a:t>
            </a:r>
            <a:br/>
            <a:r>
              <a:t>• GitHub: https://github.com/adisharma9548/sih26044-ayush-portal</a:t>
            </a:r>
          </a:p>
          <a:p>
            <a:pPr>
              <a:spcAft>
                <a:spcPts val="400"/>
              </a:spcAft>
              <a:defRPr sz="800" i="1">
                <a:solidFill>
                  <a:srgbClr val="0070BA"/>
                </a:solidFill>
              </a:defRPr>
            </a:pPr>
            <a:r>
              <a:t>Working prototype solving SIH26044 with full MongoDB Atlas persistence and live WebRTC signaling.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25880"/>
            <a:ext cx="3337560" cy="4800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b="1" sz="1050">
                <a:solidFill>
                  <a:srgbClr val="1A365D"/>
                </a:solidFill>
                <a:latin typeface="Arial"/>
              </a:defRPr>
            </a:pPr>
            <a:r>
              <a:t>📷 [REAL SCREENSHOT: INSTITUTIONAL PROGRESS &amp; ANALYTICS]</a:t>
            </a:r>
          </a:p>
          <a:p>
            <a:pPr algn="ctr">
              <a:spcAft>
                <a:spcPts val="400"/>
              </a:spcAft>
              <a:defRPr b="1" sz="950">
                <a:solidFill>
                  <a:srgbClr val="D97706"/>
                </a:solidFill>
                <a:latin typeface="Consolas"/>
              </a:defRPr>
            </a:pPr>
            <a:r>
              <a:t>Route URL: /admin/reports or /admin/progress</a:t>
            </a:r>
          </a:p>
          <a:p>
            <a:pPr algn="ctr">
              <a:defRPr sz="900">
                <a:solidFill>
                  <a:srgbClr val="1E293B"/>
                </a:solidFill>
                <a:latin typeface="Calibri"/>
              </a:defRPr>
            </a:pPr>
            <a:r>
              <a:t>Take a screenshot of the Institutional Admin analytics dashboard showing student placement trends and skill distributions!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